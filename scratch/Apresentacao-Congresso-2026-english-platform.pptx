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263" r:id="rId5"/>
    <p:sldId id="264" r:id="rId6"/>
    <p:sldId id="265" r:id="rId7"/>
    <p:sldId id="266" r:id="rId8"/>
    <p:sldId id="267" r:id="rId9"/>
    <p:sldId id="268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fjP2i3DliAGCvJMZXY7yUrAdj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58" autoAdjust="0"/>
    <p:restoredTop sz="94652"/>
  </p:normalViewPr>
  <p:slideViewPr>
    <p:cSldViewPr snapToGrid="0">
      <p:cViewPr varScale="1">
        <p:scale>
          <a:sx n="43" d="100"/>
          <a:sy n="43" d="100"/>
        </p:scale>
        <p:origin x="53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ábio Rodrigues Gonçalves" userId="6da1f786edbc379b" providerId="LiveId" clId="{742DC7DE-5222-5A9D-B245-F9D601FC5C20}"/>
    <pc:docChg chg="modSld">
      <pc:chgData name="Fábio Rodrigues Gonçalves" userId="6da1f786edbc379b" providerId="LiveId" clId="{742DC7DE-5222-5A9D-B245-F9D601FC5C20}" dt="2026-10-19T16:05:10.915" v="0" actId="20577"/>
      <pc:docMkLst>
        <pc:docMk/>
      </pc:docMkLst>
    </pc:docChg>
  </pc:docChgLst>
  <pc:docChgLst>
    <pc:chgData name="ADRIANO SUNAO NAKAMURA" userId="S::adriano.nakamura@cps.sp.gov.br::2b6f35c9-4fb8-4184-9ea5-a56f36cf7207" providerId="AD" clId="Web-{3A14E651-BE00-7DD4-B18C-92689D600F54}"/>
    <pc:docChg chg="modSld">
      <pc:chgData name="ADRIANO SUNAO NAKAMURA" userId="S::adriano.nakamura@cps.sp.gov.br::2b6f35c9-4fb8-4184-9ea5-a56f36cf7207" providerId="AD" clId="Web-{3A14E651-BE00-7DD4-B18C-92689D600F54}" dt="2026-10-23T16:42:34.506" v="1" actId="20577"/>
      <pc:docMkLst>
        <pc:docMk/>
      </pc:docMkLst>
      <pc:sldChg chg="modSp">
        <pc:chgData name="ADRIANO SUNAO NAKAMURA" userId="S::adriano.nakamura@cps.sp.gov.br::2b6f35c9-4fb8-4184-9ea5-a56f36cf7207" providerId="AD" clId="Web-{3A14E651-BE00-7DD4-B18C-92689D600F54}" dt="2026-10-23T16:42:34.506" v="1" actId="20577"/>
        <pc:sldMkLst>
          <pc:docMk/>
          <pc:sldMk cId="439372106" sldId="266"/>
        </pc:sldMkLst>
        <pc:spChg chg="mod">
          <ac:chgData name="ADRIANO SUNAO NAKAMURA" userId="S::adriano.nakamura@cps.sp.gov.br::2b6f35c9-4fb8-4184-9ea5-a56f36cf7207" providerId="AD" clId="Web-{3A14E651-BE00-7DD4-B18C-92689D600F54}" dt="2026-10-23T16:42:34.506" v="1" actId="20577"/>
          <ac:spMkLst>
            <pc:docMk/>
            <pc:sldMk cId="439372106" sldId="26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731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GFD2166TRA Raw.tif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" t="2151" r="9181" b="13214"/>
          <a:stretch/>
        </p:blipFill>
        <p:spPr>
          <a:xfrm>
            <a:off x="-1" y="0"/>
            <a:ext cx="18288002" cy="8707896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CD565C-D292-3990-5260-EE96671489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25" y="8256389"/>
            <a:ext cx="18268950" cy="20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85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D82F-4EDC-49F1-9B28-C237C8B75C57}" type="datetimeFigureOut">
              <a:rPr lang="pt-BR" smtClean="0"/>
              <a:t>27/10/2026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A9C17-C46A-4EA9-988B-65082669AAE1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3A2200-F22E-F86B-1DBE-7194EE42F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8256389"/>
            <a:ext cx="18268950" cy="20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3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9;p6" title="imagem.jpeg">
            <a:extLst>
              <a:ext uri="{FF2B5EF4-FFF2-40B4-BE49-F238E27FC236}">
                <a16:creationId xmlns:a16="http://schemas.microsoft.com/office/drawing/2014/main" id="{B52668BA-614B-31D7-84CE-6F7B057BAC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708" t="6670" r="-7447" b="-6670"/>
          <a:stretch/>
        </p:blipFill>
        <p:spPr>
          <a:xfrm>
            <a:off x="11331207" y="252800"/>
            <a:ext cx="7199931" cy="33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220530" y="641805"/>
            <a:ext cx="9635039" cy="7179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2"/>
              </a:spcAft>
              <a:buNone/>
            </a:pPr>
            <a:r>
              <a:rPr lang="pt-BR" sz="2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Desenvolvimento de uma Plataforma Web para Gestão e Acompanhamento de Cursos de Língua Estrangeira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Marina Oliveira Santos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Pedro Henrique Almeida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Larissa Gomes Ferreira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Rafael Costa Nunes</a:t>
            </a:r>
          </a:p>
          <a:p>
            <a:pPr marL="0" indent="0" algn="l">
              <a:spcBef>
                <a:spcPts val="0"/>
              </a:spcBef>
              <a:spcAft>
                <a:spcPts val="8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Juliana Pereira Rocha</a:t>
            </a:r>
          </a:p>
          <a:p>
            <a:pPr marL="0" indent="0" algn="l">
              <a:spcBef>
                <a:spcPts val="6"/>
              </a:spcBef>
              <a:spcAft>
                <a:spcPts val="16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Curso</a:t>
            </a:r>
          </a:p>
          <a:p>
            <a:pPr marL="0" indent="0" algn="l">
              <a:spcBef>
                <a:spcPts val="8"/>
              </a:spcBef>
              <a:spcAft>
                <a:spcPts val="0"/>
              </a:spcAft>
              <a:buNone/>
            </a:pPr>
            <a:r>
              <a:rPr lang="pt-BR" sz="18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Orientador: Prof. Dr. Adriano Sunao Nakamura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A70D4C-BC83-DAD3-625B-C46029D63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664" y="8833492"/>
            <a:ext cx="2747678" cy="125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0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43029" cy="1143000"/>
          </a:xfrm>
        </p:spPr>
        <p:txBody>
          <a:bodyPr/>
          <a:lstStyle/>
          <a:p>
            <a:r>
              <a:rPr lang="pt-BR" dirty="0"/>
              <a:t>OBJETIVOS</a:t>
            </a:r>
          </a:p>
        </p:txBody>
      </p:sp>
      <p:pic>
        <p:nvPicPr>
          <p:cNvPr id="3" name="Google Shape;139;p6" title="imagem.jpeg">
            <a:extLst>
              <a:ext uri="{FF2B5EF4-FFF2-40B4-BE49-F238E27FC236}">
                <a16:creationId xmlns:a16="http://schemas.microsoft.com/office/drawing/2014/main" id="{D5B668C9-8187-E16A-3B92-D314FA2E2B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708" t="6670" r="-7447" b="-6670"/>
          <a:stretch/>
        </p:blipFill>
        <p:spPr>
          <a:xfrm>
            <a:off x="11331207" y="252800"/>
            <a:ext cx="7199931" cy="33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5EF69D2-63C6-EB41-9DCB-12BD2C564F5B}"/>
              </a:ext>
            </a:extLst>
          </p:cNvPr>
          <p:cNvSpPr txBox="1"/>
          <p:nvPr/>
        </p:nvSpPr>
        <p:spPr>
          <a:xfrm>
            <a:off x="1231489" y="1611086"/>
            <a:ext cx="9884229" cy="56323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Objetivo geral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5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Desenvolver uma plataforma web para a professora gerir e o aluno acompanhar cursos de língua estrangeira.</a:t>
            </a:r>
          </a:p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Objetivos específicos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Cadastrar alunos com dados pessoais, matrícula, nível de inglês e observações pedagógicas.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Organizar a agenda de aulas individuais e em grupo, com presença, falta e reposição.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Levar o aluno à aula pelo link da videochamada do Google Meet.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Publicar materiais em PDF, Word, áudio, vídeo e links, por curso, aula, nível e módulo.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Registrar avaliações, notas e feedback da professora.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Emitir certificado em PDF, com dados do aluno, curso, carga horária e validação por código.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Oferecer portal do aluno, autenticação e tratamento de dados pessoais conforme a LGPD.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Funcionar como aplicativo instalável no celular (PWA), com uso parcial offline e notificações.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E212BD-D745-31D0-C612-EDE0E8F52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64" y="8833492"/>
            <a:ext cx="2747678" cy="125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43029" cy="1143000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pic>
        <p:nvPicPr>
          <p:cNvPr id="3" name="Google Shape;139;p6" title="imagem.jpeg">
            <a:extLst>
              <a:ext uri="{FF2B5EF4-FFF2-40B4-BE49-F238E27FC236}">
                <a16:creationId xmlns:a16="http://schemas.microsoft.com/office/drawing/2014/main" id="{D5B668C9-8187-E16A-3B92-D314FA2E2B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708" t="6670" r="-7447" b="-6670"/>
          <a:stretch/>
        </p:blipFill>
        <p:spPr>
          <a:xfrm>
            <a:off x="11331207" y="252800"/>
            <a:ext cx="7199931" cy="33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AE29005-9A9C-016A-F02B-46E2DE199143}"/>
              </a:ext>
            </a:extLst>
          </p:cNvPr>
          <p:cNvSpPr txBox="1"/>
          <p:nvPr/>
        </p:nvSpPr>
        <p:spPr>
          <a:xfrm>
            <a:off x="1231489" y="1611086"/>
            <a:ext cx="9884229" cy="56323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Como o trabalho foi organizado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Os requisitos saíram do documento do projeto: alunos, agenda, videoaula, materiais, presença, avaliações, certificados, portal do aluno, PWA, segurança e relatórios.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sistema foi dividido em duas aplicações: interface web em React, TypeScript e Vite; API em Node.js com Express, com as rotas sob /api.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banco definido é o MySQL, acessado pela API com mysql2. O README da API indica a publicação no Render e o MySQL no Clever Cloud.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autenticação usa JWT e refresh token gravado no MySQL. Os papéis são administrador, professor e aluno. O CPF é armazenado em hash (bcrypt).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videoaula segue o caminho descrito no documento: OAuth do Google Calendar e criação do evento com sala do Meet. Esse código está na API.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arquivo do material sobe pela API e fica no Supabase Storage. O registro do material fica no MySQL.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interface separa o painel da professora e o portal do aluno. Há política de privacidade citando a Lei nº 13.709/2018 (LGPD) e aviso de cookies.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aplicativo instalável está configurado no front com vite-plugin-pwa. O manifesto usa o nome Aulas e Traduções.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174141-09D6-EBCE-1A31-976AB0EAF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64" y="8833492"/>
            <a:ext cx="2747678" cy="125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3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43029" cy="1143000"/>
          </a:xfrm>
        </p:spPr>
        <p:txBody>
          <a:bodyPr/>
          <a:lstStyle/>
          <a:p>
            <a:r>
              <a:rPr lang="pt-BR"/>
              <a:t>DESENVOLVIMENTO</a:t>
            </a:r>
          </a:p>
        </p:txBody>
      </p:sp>
      <p:pic>
        <p:nvPicPr>
          <p:cNvPr id="3" name="Google Shape;139;p6" title="imagem.jpeg">
            <a:extLst>
              <a:ext uri="{FF2B5EF4-FFF2-40B4-BE49-F238E27FC236}">
                <a16:creationId xmlns:a16="http://schemas.microsoft.com/office/drawing/2014/main" id="{D5B668C9-8187-E16A-3B92-D314FA2E2B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708" t="6670" r="-7447" b="-6670"/>
          <a:stretch/>
        </p:blipFill>
        <p:spPr>
          <a:xfrm>
            <a:off x="11331207" y="252800"/>
            <a:ext cx="7199931" cy="33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136E57A-01A3-F155-76B9-335FD6950C60}"/>
              </a:ext>
            </a:extLst>
          </p:cNvPr>
          <p:cNvSpPr txBox="1"/>
          <p:nvPr/>
        </p:nvSpPr>
        <p:spPr>
          <a:xfrm>
            <a:off x="1231489" y="1611086"/>
            <a:ext cx="9884229" cy="56323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Previsto no documento de requisitos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Gestão de alunos, agenda, link da aula, materiais, presença, avaliações, certificados, portal do aluno, PWA, segurança e relatórios.</a:t>
            </a:r>
          </a:p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Já encontrado na interface web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Login, recuperação de senha, aviso de cookies e política de privacidade.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Painel da professora com alunos, turmas, agenda, materiais da aula e tela de certificados.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Cadastro com nome, CPF, e-mail, telefone, nascimento, nível, observações, foto e situação ativo ou inativo.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Portal do aluno com início, turma, materiais, certificados e perfil, e página pública de certificado por código.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agenda do site ainda monta um link no formato meet.google.com, sem chamar a criação da sala.</a:t>
            </a:r>
          </a:p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Já encontrado na API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Rotas autenticadas de níveis, turmas, matrículas, aulas e materiais, com papéis de administrador, professor e aluno.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Cadastro de aluno, professor e administrador; login com JWT e refresh token no MySQL; e-mail de recuperação de senha.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Upload do material para o Supabase Storage, com o registro gravado no MySQL.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OAuth do Google Calendar e função que cria o evento com o link real do Meet.</a:t>
            </a:r>
          </a:p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Ainda não fechado no código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Presença, reposição, notas e emissão do certificado não têm rotas. Essas tabelas aparecem só comentadas no script SQL.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função que cria a sala no Meet não está ligada à rota de aulas que o front chama.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DE9BAD-CED3-5975-A888-77D2591E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64" y="8833492"/>
            <a:ext cx="2747678" cy="125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7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43029" cy="1143000"/>
          </a:xfrm>
        </p:spPr>
        <p:txBody>
          <a:bodyPr/>
          <a:lstStyle/>
          <a:p>
            <a:r>
              <a:rPr lang="pt-BR" dirty="0"/>
              <a:t>BIBLIOGRAFIA</a:t>
            </a:r>
          </a:p>
        </p:txBody>
      </p:sp>
      <p:pic>
        <p:nvPicPr>
          <p:cNvPr id="3" name="Google Shape;139;p6" title="imagem.jpeg">
            <a:extLst>
              <a:ext uri="{FF2B5EF4-FFF2-40B4-BE49-F238E27FC236}">
                <a16:creationId xmlns:a16="http://schemas.microsoft.com/office/drawing/2014/main" id="{D5B668C9-8187-E16A-3B92-D314FA2E2B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708" t="6670" r="-7447" b="-6670"/>
          <a:stretch/>
        </p:blipFill>
        <p:spPr>
          <a:xfrm>
            <a:off x="11331207" y="252800"/>
            <a:ext cx="7199931" cy="33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692EB82-0E76-7B0D-7003-40932FA6BCB0}"/>
              </a:ext>
            </a:extLst>
          </p:cNvPr>
          <p:cNvSpPr txBox="1"/>
          <p:nvPr/>
        </p:nvSpPr>
        <p:spPr>
          <a:xfrm>
            <a:off x="1231489" y="1611086"/>
            <a:ext cx="9884229" cy="56323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Referências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BRASIL. Lei nº 13.709, de 14 de agosto de 2018. Lei Geral de Proteção de Dados Pessoais. Brasília, DF, 2018.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EXPRESS. Express: web framework for Node.js. Disponível em: https://expressjs.com/. Acesso em: 27 out. 2026.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GOOGLE. Google Calendar API. Disponível em: https://developers.google.com/calendar. Acesso em: 27 out. 2026.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JONES, M.; BRADLEY, J.; SAKIMURA, N. JSON Web Token (JWT). RFC 7519. IETF, 2015.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MDN. Progressive web apps. Disponível em: https://developer.mozilla.org/docs/Web/Progressive_web_apps. Acesso em: 27 out. 2026.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ORACLE. MySQL 8.0 Reference Manual. Disponível em: https://dev.mysql.com/doc/. Acesso em: 27 out. 2026.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REACT. React documentation. Disponível em: https://react.dev/. Acesso em: 27 out. 2026.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3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VITE. Vite guide. Disponível em: https://vite.dev/. Acesso em: 27 out. 2026.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8AEB2A-2C94-84AD-2789-A0033301E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64" y="8833492"/>
            <a:ext cx="2747678" cy="125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9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43029" cy="1143000"/>
          </a:xfrm>
        </p:spPr>
        <p:txBody>
          <a:bodyPr/>
          <a:lstStyle/>
          <a:p>
            <a:r>
              <a:rPr lang="pt-BR" dirty="0"/>
              <a:t>CONSIDERAÇÕES FINAIS</a:t>
            </a:r>
          </a:p>
        </p:txBody>
      </p:sp>
      <p:pic>
        <p:nvPicPr>
          <p:cNvPr id="3" name="Google Shape;139;p6" title="imagem.jpeg">
            <a:extLst>
              <a:ext uri="{FF2B5EF4-FFF2-40B4-BE49-F238E27FC236}">
                <a16:creationId xmlns:a16="http://schemas.microsoft.com/office/drawing/2014/main" id="{D5B668C9-8187-E16A-3B92-D314FA2E2B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708" t="6670" r="-7447" b="-6670"/>
          <a:stretch/>
        </p:blipFill>
        <p:spPr>
          <a:xfrm>
            <a:off x="11331207" y="252800"/>
            <a:ext cx="7199931" cy="33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692EB82-0E76-7B0D-7003-40932FA6BCB0}"/>
              </a:ext>
            </a:extLst>
          </p:cNvPr>
          <p:cNvSpPr txBox="1"/>
          <p:nvPr/>
        </p:nvSpPr>
        <p:spPr>
          <a:xfrm>
            <a:off x="1231489" y="1611086"/>
            <a:ext cx="9884229" cy="56323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que o projeto já sustenta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documento cobre o ciclo do curso: aluno, agenda, aula online, material, presença, avaliação, certificado e portal.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interface entrega os painéis da professora e do aluno, o cadastro, as turmas, as aulas, os materiais e o login com renovação de token.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API persiste usuários, níveis, turmas, matrículas, aulas e materiais no MySQL, e guarda os arquivos no Supabase Storage.</a:t>
            </a:r>
          </a:p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Decisões já tomadas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Banco de dados: MySQL.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Videoaula: Google Meet, criado por um evento no Google Calendar. A função está na API.</a:t>
            </a:r>
          </a:p>
          <a:p>
            <a:pPr marL="0" indent="0" algn="l">
              <a:spcBef>
                <a:spcPts val="8"/>
              </a:spcBef>
              <a:spcAft>
                <a:spcPts val="2"/>
              </a:spcAft>
              <a:buNone/>
            </a:pPr>
            <a:r>
              <a:rPr lang="pt-BR" sz="1800" b="1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que ainda falta para o escopo do documento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Persistir presença, notas e relatórios, e emitir o certificado em PDF com validação.</a:t>
            </a:r>
          </a:p>
          <a:p>
            <a:pPr marL="171450" indent="-171450" algn="l">
              <a:spcBef>
                <a:spcPts val="1"/>
              </a:spcBef>
              <a:spcAft>
                <a:spcPts val="1"/>
              </a:spcAft>
              <a:buFont typeface="Arial"/>
              <a:buChar char="•"/>
            </a:pPr>
            <a:r>
              <a:rPr lang="pt-BR" sz="1400" b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Ligar a criação da sala do Meet à rota de aulas. A agenda do site ainda só monta o link. Também faltam notificações e o uso offline do PWA.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0312E9-6EC4-E1F5-3A44-31D1EE999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64" y="8833492"/>
            <a:ext cx="2747678" cy="125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7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c993b6-3907-494d-8683-b6d13327546e" xsi:nil="true"/>
    <lcf76f155ced4ddcb4097134ff3c332f xmlns="26631a33-d67a-498a-8009-4b96fbd090b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CA632CEF6DD00499E70FABE292AACEC" ma:contentTypeVersion="10" ma:contentTypeDescription="Crie um novo documento." ma:contentTypeScope="" ma:versionID="cb76c14ba29ac56aedcc14bfb82e7bf8">
  <xsd:schema xmlns:xsd="http://www.w3.org/2001/XMLSchema" xmlns:xs="http://www.w3.org/2001/XMLSchema" xmlns:p="http://schemas.microsoft.com/office/2006/metadata/properties" xmlns:ns2="26631a33-d67a-498a-8009-4b96fbd090bd" xmlns:ns3="0fc993b6-3907-494d-8683-b6d13327546e" targetNamespace="http://schemas.microsoft.com/office/2006/metadata/properties" ma:root="true" ma:fieldsID="fcbc5c1ea32f49ee50dc9fa6fdb82505" ns2:_="" ns3:_="">
    <xsd:import namespace="26631a33-d67a-498a-8009-4b96fbd090bd"/>
    <xsd:import namespace="0fc993b6-3907-494d-8683-b6d1332754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631a33-d67a-498a-8009-4b96fbd09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c993b6-3907-494d-8683-b6d13327546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ca41a58-90a6-44e9-b1e6-32ffec6decf8}" ma:internalName="TaxCatchAll" ma:showField="CatchAllData" ma:web="0fc993b6-3907-494d-8683-b6d1332754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284579-A0AC-4673-B75B-B88A9218AE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2946EE-279A-45E3-BA64-49C721F593DC}">
  <ds:schemaRefs>
    <ds:schemaRef ds:uri="http://schemas.microsoft.com/office/2006/metadata/properties"/>
    <ds:schemaRef ds:uri="http://schemas.microsoft.com/office/infopath/2007/PartnerControls"/>
    <ds:schemaRef ds:uri="0fc993b6-3907-494d-8683-b6d13327546e"/>
    <ds:schemaRef ds:uri="26631a33-d67a-498a-8009-4b96fbd090bd"/>
  </ds:schemaRefs>
</ds:datastoreItem>
</file>

<file path=customXml/itemProps3.xml><?xml version="1.0" encoding="utf-8"?>
<ds:datastoreItem xmlns:ds="http://schemas.openxmlformats.org/officeDocument/2006/customXml" ds:itemID="{2191A3AB-913A-459B-A157-BA70449955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631a33-d67a-498a-8009-4b96fbd090bd"/>
    <ds:schemaRef ds:uri="0fc993b6-3907-494d-8683-b6d1332754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</Words>
  <Application>Microsoft Office PowerPoint</Application>
  <PresentationFormat>Personalizar</PresentationFormat>
  <Paragraphs>78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Apresentação do PowerPoint</vt:lpstr>
      <vt:lpstr>OBJETIVOS</vt:lpstr>
      <vt:lpstr>METODOLOGIA</vt:lpstr>
      <vt:lpstr>DESENVOLVIMENTO</vt:lpstr>
      <vt:lpstr>BIBLIOGRAFIA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Celia Santana</dc:creator>
  <cp:lastModifiedBy>Adriano Nakamura</cp:lastModifiedBy>
  <cp:revision>5</cp:revision>
  <dcterms:created xsi:type="dcterms:W3CDTF">2006-08-16T00:00:00Z</dcterms:created>
  <dcterms:modified xsi:type="dcterms:W3CDTF">2026-10-27T13:02:07Z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0x0101005CA632CEF6DD00499E70FABE292AACEC</vt:lpwstr>
  </property>
  <property fmtid="{D5CDD505-2E9C-101B-9397-08002B2CF9AE}" pid="3" name="MediaServiceImageTags">
    <vt:lpwstr/>
  </property>
</Properties>
</file>